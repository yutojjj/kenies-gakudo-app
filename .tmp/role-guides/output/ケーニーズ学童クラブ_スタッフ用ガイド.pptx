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a57fcd245141c8" /><Relationship Type="http://schemas.openxmlformats.org/officeDocument/2006/relationships/extended-properties" Target="/docProps/app.xml" Id="Rf164021dda4449be" /><Relationship Type="http://schemas.openxmlformats.org/officeDocument/2006/relationships/officeDocument" Target="/ppt/presentation.xml" Id="Rfc12312a3d8d48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e13332bd104de8"/>
  </p:sldMasterIdLst>
  <p:notesMasterIdLst>
    <p:notesMasterId xmlns:r="http://schemas.openxmlformats.org/officeDocument/2006/relationships" r:id="Rcb62777cff8147eb"/>
  </p:notesMasterIdLst>
  <p:sldIdLst>
    <p:sldId xmlns:r="http://schemas.openxmlformats.org/officeDocument/2006/relationships" id="256" r:id="R45f8dbc0c2094068"/>
    <p:sldId xmlns:r="http://schemas.openxmlformats.org/officeDocument/2006/relationships" id="257" r:id="R9cd1f073daf1487e"/>
    <p:sldId xmlns:r="http://schemas.openxmlformats.org/officeDocument/2006/relationships" id="258" r:id="R9868e538b04e4675"/>
    <p:sldId xmlns:r="http://schemas.openxmlformats.org/officeDocument/2006/relationships" id="259" r:id="R7b6cc890cee44113"/>
    <p:sldId xmlns:r="http://schemas.openxmlformats.org/officeDocument/2006/relationships" id="260" r:id="R422a867353ce4f27"/>
    <p:sldId xmlns:r="http://schemas.openxmlformats.org/officeDocument/2006/relationships" id="261" r:id="R562c7d049aff4137"/>
    <p:sldId xmlns:r="http://schemas.openxmlformats.org/officeDocument/2006/relationships" id="262" r:id="R5271573ed6b84b25"/>
    <p:sldId xmlns:r="http://schemas.openxmlformats.org/officeDocument/2006/relationships" id="263" r:id="Ra4550632151a451f"/>
    <p:sldId xmlns:r="http://schemas.openxmlformats.org/officeDocument/2006/relationships" id="264" r:id="Rb6e76a177e0f4bab"/>
    <p:sldId xmlns:r="http://schemas.openxmlformats.org/officeDocument/2006/relationships" id="265" r:id="Rd9e888d4f06141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01f40fe6464d3a" /><Relationship Type="http://schemas.openxmlformats.org/officeDocument/2006/relationships/slideMaster" Target="/ppt/slideMasters/slideMaster1.xml" Id="R87e13332bd104de8" /><Relationship Type="http://schemas.openxmlformats.org/officeDocument/2006/relationships/notesMaster" Target="/ppt/notesMasters/notesMaster1.xml" Id="Rcb62777cff8147eb" /><Relationship Type="http://schemas.openxmlformats.org/officeDocument/2006/relationships/presProps" Target="/ppt/presProps.xml" Id="Rddbf8a6f912e4242" /><Relationship Type="http://schemas.openxmlformats.org/officeDocument/2006/relationships/tableStyles" Target="/ppt/tableStyles.xml" Id="R8fd396d4d35b455c" /><Relationship Type="http://schemas.openxmlformats.org/officeDocument/2006/relationships/slide" Target="/ppt/slides/slide1.xml" Id="R45f8dbc0c2094068" /><Relationship Type="http://schemas.openxmlformats.org/officeDocument/2006/relationships/slide" Target="/ppt/slides/slide2.xml" Id="R9cd1f073daf1487e" /><Relationship Type="http://schemas.openxmlformats.org/officeDocument/2006/relationships/slide" Target="/ppt/slides/slide3.xml" Id="R9868e538b04e4675" /><Relationship Type="http://schemas.openxmlformats.org/officeDocument/2006/relationships/slide" Target="/ppt/slides/slide4.xml" Id="R7b6cc890cee44113" /><Relationship Type="http://schemas.openxmlformats.org/officeDocument/2006/relationships/slide" Target="/ppt/slides/slide5.xml" Id="R422a867353ce4f27" /><Relationship Type="http://schemas.openxmlformats.org/officeDocument/2006/relationships/slide" Target="/ppt/slides/slide6.xml" Id="R562c7d049aff4137" /><Relationship Type="http://schemas.openxmlformats.org/officeDocument/2006/relationships/slide" Target="/ppt/slides/slide7.xml" Id="R5271573ed6b84b25" /><Relationship Type="http://schemas.openxmlformats.org/officeDocument/2006/relationships/slide" Target="/ppt/slides/slide8.xml" Id="Ra4550632151a451f" /><Relationship Type="http://schemas.openxmlformats.org/officeDocument/2006/relationships/slide" Target="/ppt/slides/slide9.xml" Id="Rb6e76a177e0f4bab" /><Relationship Type="http://schemas.openxmlformats.org/officeDocument/2006/relationships/slide" Target="/ppt/slides/slide10.xml" Id="Rd9e888d4f06141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ea76d294e245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17393e8b6b409e" /><Relationship Type="http://schemas.openxmlformats.org/officeDocument/2006/relationships/notesMaster" Target="/ppt/notesMasters/notesMaster1.xml" Id="R04765fbb49134f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c4a4b829214e61" /><Relationship Type="http://schemas.openxmlformats.org/officeDocument/2006/relationships/notesMaster" Target="/ppt/notesMasters/notesMaster1.xml" Id="R68426cb907a64f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3f50e078b648f3" /><Relationship Type="http://schemas.openxmlformats.org/officeDocument/2006/relationships/notesMaster" Target="/ppt/notesMasters/notesMaster1.xml" Id="R6e749833388f4c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195bb41490483d" /><Relationship Type="http://schemas.openxmlformats.org/officeDocument/2006/relationships/notesMaster" Target="/ppt/notesMasters/notesMaster1.xml" Id="R5890fe06ed5848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16cc8303d0459a" /><Relationship Type="http://schemas.openxmlformats.org/officeDocument/2006/relationships/notesMaster" Target="/ppt/notesMasters/notesMaster1.xml" Id="R130e43ac19b642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ea721b0d11485c" /><Relationship Type="http://schemas.openxmlformats.org/officeDocument/2006/relationships/notesMaster" Target="/ppt/notesMasters/notesMaster1.xml" Id="R94022bd8e2b04a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06235f7e634ebe" /><Relationship Type="http://schemas.openxmlformats.org/officeDocument/2006/relationships/notesMaster" Target="/ppt/notesMasters/notesMaster1.xml" Id="R6189e6b17b964e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8c1c17547f4556" /><Relationship Type="http://schemas.openxmlformats.org/officeDocument/2006/relationships/notesMaster" Target="/ppt/notesMasters/notesMaster1.xml" Id="R554e54152f7649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85723c01334d74" /><Relationship Type="http://schemas.openxmlformats.org/officeDocument/2006/relationships/notesMaster" Target="/ppt/notesMasters/notesMaster1.xml" Id="R5fccc578faad49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fbc005d1634edd" /><Relationship Type="http://schemas.openxmlformats.org/officeDocument/2006/relationships/notesMaster" Target="/ppt/notesMasters/notesMaster1.xml" Id="Rbc750ed21a5740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afda626aa241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83a6f7eb20405e" /><Relationship Type="http://schemas.openxmlformats.org/officeDocument/2006/relationships/slideLayout" Target="/ppt/slideLayouts/slideLayout1.xml" Id="R83a3ee3f096744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a3ee3f096744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c679b0b0ed438b" /><Relationship Type="http://schemas.openxmlformats.org/officeDocument/2006/relationships/image" Target="/ppt/media/image.png" Id="Ra60679e780b1469a" /><Relationship Type="http://schemas.openxmlformats.org/officeDocument/2006/relationships/image" Target="/ppt/media/image2.png" Id="R7bb4f442b9454909" /><Relationship Type="http://schemas.openxmlformats.org/officeDocument/2006/relationships/notesSlide" Target="/ppt/notesSlides/notesSlide1.xml" Id="R14329f69c77341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b3ebf62f146d8" /><Relationship Type="http://schemas.openxmlformats.org/officeDocument/2006/relationships/notesSlide" Target="/ppt/notesSlides/notesSlide2.xml" Id="R92d45c5833384f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6489be9c54268" /><Relationship Type="http://schemas.openxmlformats.org/officeDocument/2006/relationships/image" Target="/ppt/media/image3.png" Id="R2247ea7dd1df4248" /><Relationship Type="http://schemas.openxmlformats.org/officeDocument/2006/relationships/notesSlide" Target="/ppt/notesSlides/notesSlide3.xml" Id="R9f9c0e8445d549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34809715246bb" /><Relationship Type="http://schemas.openxmlformats.org/officeDocument/2006/relationships/image" Target="/ppt/media/image4.png" Id="R96b1e2f5055c46a3" /><Relationship Type="http://schemas.openxmlformats.org/officeDocument/2006/relationships/notesSlide" Target="/ppt/notesSlides/notesSlide4.xml" Id="R2350f302af074b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947e4dfc44c24" /><Relationship Type="http://schemas.openxmlformats.org/officeDocument/2006/relationships/image" Target="/ppt/media/image5.png" Id="Red8b9d1fb7bf4dbc" /><Relationship Type="http://schemas.openxmlformats.org/officeDocument/2006/relationships/notesSlide" Target="/ppt/notesSlides/notesSlide5.xml" Id="R3ce5e36ece9845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df88ff6294d6f" /><Relationship Type="http://schemas.openxmlformats.org/officeDocument/2006/relationships/image" Target="/ppt/media/image6.png" Id="Rdb26acdb04a54302" /><Relationship Type="http://schemas.openxmlformats.org/officeDocument/2006/relationships/notesSlide" Target="/ppt/notesSlides/notesSlide6.xml" Id="R145985aabc8a4b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cf7d940ee4414" /><Relationship Type="http://schemas.openxmlformats.org/officeDocument/2006/relationships/image" Target="/ppt/media/image7.png" Id="Re6028ff3ea364712" /><Relationship Type="http://schemas.openxmlformats.org/officeDocument/2006/relationships/notesSlide" Target="/ppt/notesSlides/notesSlide7.xml" Id="Rf9439659f14245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d5ae0c9014ce4" /><Relationship Type="http://schemas.openxmlformats.org/officeDocument/2006/relationships/image" Target="/ppt/media/image8.png" Id="Rc4ed7333a5e64696" /><Relationship Type="http://schemas.openxmlformats.org/officeDocument/2006/relationships/notesSlide" Target="/ppt/notesSlides/notesSlide8.xml" Id="Rd9ada335b16946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1755442cd4fd3" /><Relationship Type="http://schemas.openxmlformats.org/officeDocument/2006/relationships/image" Target="/ppt/media/image9.png" Id="Rfd66a4d13db04404" /><Relationship Type="http://schemas.openxmlformats.org/officeDocument/2006/relationships/notesSlide" Target="/ppt/notesSlides/notesSlide9.xml" Id="Rfb22fb40cd7449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3fe8cddc64c6c" /><Relationship Type="http://schemas.openxmlformats.org/officeDocument/2006/relationships/notesSlide" Target="/ppt/notesSlides/notesSlide10.xml" Id="Rabcb8a982dbf4f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5AD2D-1F7E-4655-A74C-509DCF7F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DD1"/>
          </a:solidFill>
          <a:ln xmlns:a="http://schemas.openxmlformats.org/drawingml/2006/main" w="0">
            <a:solidFill>
              <a:srgbClr val="397DD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679e780b1469a"/>
          <a:stretch xmlns:a="http://schemas.openxmlformats.org/drawingml/2006/main"/>
        </p:blipFill>
        <p:spPr>
          <a:xfrm xmlns:a="http://schemas.openxmlformats.org/drawingml/2006/main">
            <a:off x="800100" y="805528"/>
            <a:ext cx="1009650" cy="998794"/>
          </a:xfrm>
          <a:prstGeom xmlns:a="http://schemas.openxmlformats.org/drawingml/2006/main" prst="roundRect">
            <a:avLst>
              <a:gd name="adj" fmla="val 11321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6FD9F-B29F-4B9E-A285-EEC96CE4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657276"/>
                </a:solidFill>
              </a:defRPr>
            </a:pPr>
            <a:r>
              <a:rPr sz="2175" b="1">
                <a:solidFill>
                  <a:srgbClr val="657276"/>
                </a:solidFill>
              </a:rPr>
              <a:t>ケーニーズ学童クラブ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5DAF0-A0C7-4630-AF45-09353934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6191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253033"/>
                </a:solidFill>
              </a:defRPr>
            </a:pPr>
            <a:r>
              <a:rPr sz="5400" b="1">
                <a:solidFill>
                  <a:srgbClr val="253033"/>
                </a:solidFill>
              </a:rPr>
              <a:t>スタッフ用</a:t>
            </a:r>
          </a:p>
          <a:p xmlns:a="http://schemas.openxmlformats.org/drawingml/2006/main">
            <a:pPr algn="l">
              <a:defRPr sz="5400" b="1">
                <a:solidFill>
                  <a:srgbClr val="253033"/>
                </a:solidFill>
              </a:defRPr>
            </a:pPr>
            <a:r>
              <a:rPr sz="5400" b="1">
                <a:solidFill>
                  <a:srgbClr val="253033"/>
                </a:solidFill>
              </a:rPr>
              <a:t>かんたんガイド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53E0F-3DEF-4F6F-B59D-DCA7EE35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C5A5E"/>
                </a:solidFill>
              </a:defRPr>
            </a:pPr>
            <a:r>
              <a:rPr sz="1800" b="0">
                <a:solidFill>
                  <a:srgbClr val="4C5A5E"/>
                </a:solidFill>
              </a:rPr>
              <a:t>自分の担当と、今日必要な対応をすばやく確認する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60934B-A711-4319-835A-73C4B645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81050"/>
            <a:ext cx="3638550" cy="52768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4f442b9454909"/>
          <a:stretch xmlns:a="http://schemas.openxmlformats.org/drawingml/2006/main"/>
        </p:blipFill>
        <p:spPr>
          <a:xfrm xmlns:a="http://schemas.openxmlformats.org/drawingml/2006/main">
            <a:off x="8230575" y="1047750"/>
            <a:ext cx="2226900" cy="4572000"/>
          </a:xfrm>
          <a:prstGeom xmlns:a="http://schemas.openxmlformats.org/drawingml/2006/main" prst="roundRect">
            <a:avLst>
              <a:gd name="adj" fmla="val 382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90F06-19EC-4139-94AA-69D239B2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7531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276"/>
                </a:solidFill>
              </a:defRPr>
            </a:pPr>
            <a:r>
              <a:rPr sz="1125" b="0">
                <a:solidFill>
                  <a:srgbClr val="657276"/>
                </a:solidFill>
              </a:rPr>
              <a:t>毎日の画面を見ながら、必要な操作だけ確認できます。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949819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E0A5A8-5F19-4113-970A-EEE378F8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DD1"/>
          </a:solidFill>
          <a:ln xmlns:a="http://schemas.openxmlformats.org/drawingml/2006/main" w="0">
            <a:solidFill>
              <a:srgbClr val="397DD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2E0EE-5FB4-42F1-94D6-ED251851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スタッフガイド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E253F-3594-4C98-8885-0CDA040C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97DD1"/>
                </a:solidFill>
              </a:defRPr>
            </a:pPr>
            <a:r>
              <a:rPr sz="1125" b="1">
                <a:solidFill>
                  <a:srgbClr val="397DD1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35936-350D-485C-A9BC-2216CBF5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この手順書でできること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C0664-D2B7-47E7-ACB8-286EE8EA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必要な操作を探しやすい順に並べています。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4B35B-AC62-451C-A4CE-14F23099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97DD1"/>
                </a:solidFill>
              </a:defRPr>
            </a:pPr>
            <a:r>
              <a:rPr sz="2100" b="1">
                <a:solidFill>
                  <a:srgbClr val="397DD1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8E1E2-4E44-4273-A562-1C616B20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90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033"/>
                </a:solidFill>
              </a:defRPr>
            </a:pPr>
            <a:r>
              <a:rPr sz="1800" b="1">
                <a:solidFill>
                  <a:srgbClr val="253033"/>
                </a:solidFill>
              </a:rPr>
              <a:t>出勤後の確認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B6086-F6C0-4C64-A9ED-80810A61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2890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6"/>
                </a:solidFill>
              </a:defRPr>
            </a:pPr>
            <a:r>
              <a:rPr sz="1350" b="0">
                <a:solidFill>
                  <a:srgbClr val="657276"/>
                </a:solidFill>
              </a:rPr>
              <a:t>ホームで自分の担当と連絡を見る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34FABE-F876-4205-BAF5-ED1D79C4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907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97DD1"/>
                </a:solidFill>
              </a:defRPr>
            </a:pPr>
            <a:r>
              <a:rPr sz="2100" b="1">
                <a:solidFill>
                  <a:srgbClr val="397DD1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0D315-FE18-43B0-9D1B-74874FB6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90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033"/>
                </a:solidFill>
              </a:defRPr>
            </a:pPr>
            <a:r>
              <a:rPr sz="1800" b="1">
                <a:solidFill>
                  <a:srgbClr val="253033"/>
                </a:solidFill>
              </a:rPr>
              <a:t>出欠記録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2B8BF-8AE1-452C-878A-43CF26478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2890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6"/>
                </a:solidFill>
              </a:defRPr>
            </a:pPr>
            <a:r>
              <a:rPr sz="1350" b="0">
                <a:solidFill>
                  <a:srgbClr val="657276"/>
                </a:solidFill>
              </a:rPr>
              <a:t>利用者の出欠を確認・記録する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E3CF6-27D3-4777-A7B6-89874B84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97DD1"/>
                </a:solidFill>
              </a:defRPr>
            </a:pPr>
            <a:r>
              <a:rPr sz="2100" b="1">
                <a:solidFill>
                  <a:srgbClr val="397DD1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33473-5A15-4FEF-9AEE-EED74513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099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033"/>
                </a:solidFill>
              </a:defRPr>
            </a:pPr>
            <a:r>
              <a:rPr sz="1800" b="1">
                <a:solidFill>
                  <a:srgbClr val="253033"/>
                </a:solidFill>
              </a:rPr>
              <a:t>送迎担当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A0CF17-F70B-4B28-AB78-B0BD5AF2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4810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6"/>
                </a:solidFill>
              </a:defRPr>
            </a:pPr>
            <a:r>
              <a:rPr sz="1350" b="0">
                <a:solidFill>
                  <a:srgbClr val="657276"/>
                </a:solidFill>
              </a:rPr>
              <a:t>送迎順と行き先を確認する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36FC5-5087-4F42-A6BA-D02A573E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09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97DD1"/>
                </a:solidFill>
              </a:defRPr>
            </a:pPr>
            <a:r>
              <a:rPr sz="2100" b="1">
                <a:solidFill>
                  <a:srgbClr val="397DD1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0907CD-22B2-497F-8FFE-8321E09F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099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033"/>
                </a:solidFill>
              </a:defRPr>
            </a:pPr>
            <a:r>
              <a:rPr sz="1800" b="1">
                <a:solidFill>
                  <a:srgbClr val="253033"/>
                </a:solidFill>
              </a:rPr>
              <a:t>シフト提出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493EE6-54B6-489B-BAD1-3E98EE66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4810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6"/>
                </a:solidFill>
              </a:defRPr>
            </a:pPr>
            <a:r>
              <a:rPr sz="1350" b="0">
                <a:solidFill>
                  <a:srgbClr val="657276"/>
                </a:solidFill>
              </a:rPr>
              <a:t>勤務可能な日時を入力する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FF3279-4EC8-40AA-91E7-1E2A1A2B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97DD1"/>
                </a:solidFill>
              </a:defRPr>
            </a:pPr>
            <a:r>
              <a:rPr sz="2100" b="1">
                <a:solidFill>
                  <a:srgbClr val="397DD1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92B2AA-F2EA-4FFF-917C-E7D11591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291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033"/>
                </a:solidFill>
              </a:defRPr>
            </a:pPr>
            <a:r>
              <a:rPr sz="1800" b="1">
                <a:solidFill>
                  <a:srgbClr val="253033"/>
                </a:solidFill>
              </a:rPr>
              <a:t>日付の切替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A94CC2-6132-4321-A306-6A17CB44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6"/>
                </a:solidFill>
              </a:defRPr>
            </a:pPr>
            <a:r>
              <a:rPr sz="1350" b="0">
                <a:solidFill>
                  <a:srgbClr val="657276"/>
                </a:solidFill>
              </a:rPr>
              <a:t>対象日を選んで確認する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0D7E95-BD80-4365-BA95-920EC320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291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97DD1"/>
                </a:solidFill>
              </a:defRPr>
            </a:pPr>
            <a:r>
              <a:rPr sz="2100" b="1">
                <a:solidFill>
                  <a:srgbClr val="397DD1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D1EEA6-002B-423B-A2D6-BBB96DEB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291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3033"/>
                </a:solidFill>
              </a:defRPr>
            </a:pPr>
            <a:r>
              <a:rPr sz="1800" b="1">
                <a:solidFill>
                  <a:srgbClr val="253033"/>
                </a:solidFill>
              </a:rPr>
              <a:t>連絡と見直し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1C3F1F-81E8-4693-B6BC-2CE38168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6730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276"/>
                </a:solidFill>
              </a:defRPr>
            </a:pPr>
            <a:r>
              <a:rPr sz="1350" b="0">
                <a:solidFill>
                  <a:srgbClr val="657276"/>
                </a:solidFill>
              </a:rPr>
              <a:t>メッセージと退勤前の確認</a:t>
            </a:r>
          </a:p>
        </p:txBody>
      </p:sp>
    </p:spTree>
    <p:extLst>
      <p:ext uri="{BB962C8B-B14F-4D97-AF65-F5344CB8AC3E}">
        <p14:creationId xmlns:p14="http://schemas.microsoft.com/office/powerpoint/2010/main" val="6363256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7F2911-1B79-4038-988E-9DC6106C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DD1"/>
          </a:solidFill>
          <a:ln xmlns:a="http://schemas.openxmlformats.org/drawingml/2006/main" w="0">
            <a:solidFill>
              <a:srgbClr val="397DD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73DC0-B8AE-4CBD-866E-21C44427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スタッフガイド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4204D4-D1AD-4980-B917-BDB48BA9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97DD1"/>
                </a:solidFill>
              </a:defRPr>
            </a:pPr>
            <a:r>
              <a:rPr sz="1125" b="1">
                <a:solidFill>
                  <a:srgbClr val="397DD1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D208A-EB82-41E9-ACF8-61E910F4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ホームで、自分の担当を確認する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30D9D-EA7B-450B-98EA-EC601BCC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出勤後はまず自分のカードと、当日の連絡を確認します。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7B0F1-0D9F-455E-962D-93D452A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0482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7ea7dd1df4248"/>
          <a:stretch xmlns:a="http://schemas.openxmlformats.org/drawingml/2006/main"/>
        </p:blipFill>
        <p:spPr>
          <a:xfrm xmlns:a="http://schemas.openxmlformats.org/drawingml/2006/main">
            <a:off x="2263842" y="2209800"/>
            <a:ext cx="1739765" cy="3571875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E5F19-FD82-4407-983F-0C2C647E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97DD1"/>
                </a:solidFill>
              </a:defRPr>
            </a:pPr>
            <a:r>
              <a:rPr sz="1725" b="1">
                <a:solidFill>
                  <a:srgbClr val="397DD1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F9F03-CB60-4BDF-BFD3-CB650BA6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479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自分の名前を探す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D7A03-8049-4030-9838-16C42AD0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03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自分のカードを見つけ、勤務時間と送迎順を確認します。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7A58B-4C6B-48EB-AC8C-B1AF1E15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5277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A3048B-C04F-4387-96DD-AA785B05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97DD1"/>
                </a:solidFill>
              </a:defRPr>
            </a:pPr>
            <a:r>
              <a:rPr sz="1725" b="1">
                <a:solidFill>
                  <a:srgbClr val="397DD1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24293-09C9-4496-A849-D0169C20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528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現在・次の送迎を確認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3D73A3-E0B3-4A31-BDA9-23B948DC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052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色のついたカードを見て、今対応する送迎と次の行き先を把握します。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078F8-BE06-407E-88B9-F32C1866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5767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39D8E3-3331-49CE-B3D6-87E142E3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97DD1"/>
                </a:solidFill>
              </a:defRPr>
            </a:pPr>
            <a:r>
              <a:rPr sz="1725" b="1">
                <a:solidFill>
                  <a:srgbClr val="397DD1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73ABB-80A3-4CC3-B84C-0336975A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57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メモを読む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4DE588-A2E2-40B4-8198-6692E160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101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予定変更や管理者からの連絡がある日は、内容を確認します。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21272199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68AC56-D991-4850-A82E-771AC00E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DD1"/>
          </a:solidFill>
          <a:ln xmlns:a="http://schemas.openxmlformats.org/drawingml/2006/main" w="0">
            <a:solidFill>
              <a:srgbClr val="397DD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E06B4-9387-444E-A08F-CAB68F4D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スタッフガイド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AAA57-4BD6-4449-A85B-A3640945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97DD1"/>
                </a:solidFill>
              </a:defRPr>
            </a:pPr>
            <a:r>
              <a:rPr sz="1125" b="1">
                <a:solidFill>
                  <a:srgbClr val="397DD1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3F2CD-5CBE-42B3-BFAC-E004FF46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出欠を確認・記録する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7D165-F5C9-41B9-BB58-0B5DF648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利用者が来所したとき、または欠席が分かったときに記録します。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26F5D-BE08-4809-98FA-5D1ED548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667000" cy="2857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1e2f5055c46a3"/>
          <a:stretch xmlns:a="http://schemas.openxmlformats.org/drawingml/2006/main"/>
        </p:blipFill>
        <p:spPr>
          <a:xfrm xmlns:a="http://schemas.openxmlformats.org/drawingml/2006/main">
            <a:off x="1257300" y="2590800"/>
            <a:ext cx="1381125" cy="1381125"/>
          </a:xfrm>
          <a:prstGeom xmlns:a="http://schemas.openxmlformats.org/drawingml/2006/main" prst="roundRect">
            <a:avLst>
              <a:gd name="adj" fmla="val 827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84B7C-5080-427D-9CF3-E1A46C9C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3033"/>
                </a:solidFill>
              </a:defRPr>
            </a:pPr>
            <a:r>
              <a:rPr sz="1500" b="1">
                <a:solidFill>
                  <a:srgbClr val="253033"/>
                </a:solidFill>
              </a:rPr>
              <a:t>操作の入口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8B2D8-6D54-429E-BC0C-C899B61E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97DD1"/>
                </a:solidFill>
              </a:defRPr>
            </a:pPr>
            <a:r>
              <a:rPr sz="1275" b="1">
                <a:solidFill>
                  <a:srgbClr val="397DD1"/>
                </a:solidFill>
              </a:rPr>
              <a:t>出欠記録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6BBBC-850E-4B45-88A2-755BD71A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97DD1"/>
                </a:solidFill>
              </a:defRPr>
            </a:pPr>
            <a:r>
              <a:rPr sz="2175" b="1">
                <a:solidFill>
                  <a:srgbClr val="397DD1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15A9D-2F86-4D05-804D-795D22D4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日付と利用者を確認する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75D53-CE61-4933-882C-5801EE25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対象の日付を見て、該当する利用者を探します。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3FA98-FF9C-442A-805E-347F09CE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4535C-BD57-49CF-94DD-DF3E7A4D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4802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97DD1"/>
                </a:solidFill>
              </a:defRPr>
            </a:pPr>
            <a:r>
              <a:rPr sz="2175" b="1">
                <a:solidFill>
                  <a:srgbClr val="397DD1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7A034D-30A7-4209-B9BE-E90BB190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4802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出欠の状態を入力する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1616C-DD54-4B64-BB7F-F741DDC6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来所、欠席、遅刻など、実際の状況に合わせて入力します。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625A6-E36C-4A7D-BBBC-61021007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1480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134DDD-D738-4BA6-8355-67B9907D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5767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97DD1"/>
                </a:solidFill>
              </a:defRPr>
            </a:pPr>
            <a:r>
              <a:rPr sz="2175" b="1">
                <a:solidFill>
                  <a:srgbClr val="397DD1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6998AD-6D77-446A-9787-93EAFC74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5767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入力後に一覧で確認する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C388EB-5E51-4BB3-A2A7-1BF3E4BA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状態が反映され、他の利用者に誤りがないか見ます。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162104-4FBC-4B50-940E-2AD7BD56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9250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2FBFA"/>
          </a:solidFill>
          <a:ln xmlns:a="http://schemas.openxmlformats.org/drawingml/2006/main" w="9525">
            <a:solidFill>
              <a:srgbClr val="397D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22A7D9-8429-4F3D-AF50-788C070B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530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033"/>
                </a:solidFill>
              </a:defRPr>
            </a:pPr>
            <a:r>
              <a:rPr sz="1350" b="1">
                <a:solidFill>
                  <a:srgbClr val="253033"/>
                </a:solidFill>
              </a:rPr>
              <a:t>送迎の利用がある場合は、出欠だけでなく送迎先と時刻も確認します。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11013345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116D91-CFA6-4E31-B6FB-395F917F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DD1"/>
          </a:solidFill>
          <a:ln xmlns:a="http://schemas.openxmlformats.org/drawingml/2006/main" w="0">
            <a:solidFill>
              <a:srgbClr val="397DD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07F79-B679-4C92-AC32-2AC580ED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スタッフガイド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71948-6BBB-4E8E-B8AC-E55597A3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97DD1"/>
                </a:solidFill>
              </a:defRPr>
            </a:pPr>
            <a:r>
              <a:rPr sz="1125" b="1">
                <a:solidFill>
                  <a:srgbClr val="397DD1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AAFCB-85E8-4465-A3C4-1D46D71B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送迎担当を確認する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CF99C-9239-47FA-82AB-282B89B2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送迎中はホームの自分のカードを基準に、上から順番に確認します。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68CE0-595C-46A9-BCE7-677C99FD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667000" cy="2857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b9d1fb7bf4dbc"/>
          <a:stretch xmlns:a="http://schemas.openxmlformats.org/drawingml/2006/main"/>
        </p:blipFill>
        <p:spPr>
          <a:xfrm xmlns:a="http://schemas.openxmlformats.org/drawingml/2006/main">
            <a:off x="1257300" y="2590800"/>
            <a:ext cx="1381125" cy="1381125"/>
          </a:xfrm>
          <a:prstGeom xmlns:a="http://schemas.openxmlformats.org/drawingml/2006/main" prst="roundRect">
            <a:avLst>
              <a:gd name="adj" fmla="val 827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2CE12-07AF-4251-89B5-EADB4453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3033"/>
                </a:solidFill>
              </a:defRPr>
            </a:pPr>
            <a:r>
              <a:rPr sz="1500" b="1">
                <a:solidFill>
                  <a:srgbClr val="253033"/>
                </a:solidFill>
              </a:rPr>
              <a:t>操作の入口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536DCD-EFB9-4D2F-B19B-02E08DEF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97DD1"/>
                </a:solidFill>
              </a:defRPr>
            </a:pPr>
            <a:r>
              <a:rPr sz="1275" b="1">
                <a:solidFill>
                  <a:srgbClr val="397DD1"/>
                </a:solidFill>
              </a:rPr>
              <a:t>ホーム または 送迎管理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99251-9C44-4528-A5F6-2CC872A0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97DD1"/>
                </a:solidFill>
              </a:defRPr>
            </a:pPr>
            <a:r>
              <a:rPr sz="2175" b="1">
                <a:solidFill>
                  <a:srgbClr val="397DD1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5CAB8-763F-488E-99D5-CEE84826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自分の担当カードを開く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959D84-98D0-4809-BA23-DECC09FB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勤務時間と、番号順に並んだ送迎を確認します。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DBF07-B50F-4101-9573-84F044DE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40EB4A-5401-44AF-9565-739278B5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4802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97DD1"/>
                </a:solidFill>
              </a:defRPr>
            </a:pPr>
            <a:r>
              <a:rPr sz="2175" b="1">
                <a:solidFill>
                  <a:srgbClr val="397DD1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38642-6BF0-477B-BA88-7420AC5E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4802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時刻・送迎先・名前を確認する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7A747-310E-4629-AE53-D9F91BC1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次に向かう場所と、対象の利用者を見ます。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51144-9A33-4E15-9A91-EA67112D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1480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61758F-00D9-42DE-9312-AB38B9C1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5767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97DD1"/>
                </a:solidFill>
              </a:defRPr>
            </a:pPr>
            <a:r>
              <a:rPr sz="2175" b="1">
                <a:solidFill>
                  <a:srgbClr val="397DD1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037B3C-8E27-4B00-A8CA-C8CEF122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5767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変更があれば連絡を見る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8FC66A-72B3-41DA-8689-8DB4AE61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メモやメッセージに変更がないかを確認します。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3237BF-6FC3-4D52-99DA-13C9AF7A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9250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2FBFA"/>
          </a:solidFill>
          <a:ln xmlns:a="http://schemas.openxmlformats.org/drawingml/2006/main" w="9525">
            <a:solidFill>
              <a:srgbClr val="397D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0763AC-7828-4E8C-A9AD-47205577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530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033"/>
                </a:solidFill>
              </a:defRPr>
            </a:pPr>
            <a:r>
              <a:rPr sz="1350" b="1">
                <a:solidFill>
                  <a:srgbClr val="253033"/>
                </a:solidFill>
              </a:rPr>
              <a:t>送迎前には、時刻だけでなく送迎先と利用者名を必ずセットで確認します。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8032169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0DC1FD-510F-4D0E-A1E9-F58A8DE0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DD1"/>
          </a:solidFill>
          <a:ln xmlns:a="http://schemas.openxmlformats.org/drawingml/2006/main" w="0">
            <a:solidFill>
              <a:srgbClr val="397DD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15D73-5C3C-45CC-A0CC-AC5900FA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スタッフガイド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56B3E-B344-4D11-AE59-EFFA540A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97DD1"/>
                </a:solidFill>
              </a:defRPr>
            </a:pPr>
            <a:r>
              <a:rPr sz="1125" b="1">
                <a:solidFill>
                  <a:srgbClr val="397DD1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F5F41-3795-44E5-A6FC-84969910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シフトや予定を見る日を切り替える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C0372-FD65-4052-9178-8ABEAEB9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日付を切り替えて、確認・入力したい日を表示します。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3D972-E58C-4598-88FA-EF9C6E8F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0482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6acdb04a54302"/>
          <a:stretch xmlns:a="http://schemas.openxmlformats.org/drawingml/2006/main"/>
        </p:blipFill>
        <p:spPr>
          <a:xfrm xmlns:a="http://schemas.openxmlformats.org/drawingml/2006/main">
            <a:off x="838200" y="3582543"/>
            <a:ext cx="4591050" cy="826389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2F2B2-D63B-4EB4-9C2F-1745BCAE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97DD1"/>
                </a:solidFill>
              </a:defRPr>
            </a:pPr>
            <a:r>
              <a:rPr sz="1725" b="1">
                <a:solidFill>
                  <a:srgbClr val="397DD1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E6EBD-411C-495D-B15C-079CA6A2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479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年・月を選ぶ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F31681-62C1-4ED2-B161-F2591F68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03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確認したい月を選択します。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6C133-A80C-4457-8B81-341B1B7F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5277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672F4-308D-427C-83F9-B1433B03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97DD1"/>
                </a:solidFill>
              </a:defRPr>
            </a:pPr>
            <a:r>
              <a:rPr sz="1725" b="1">
                <a:solidFill>
                  <a:srgbClr val="397DD1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FFC917-2FB8-4692-889A-99EC3E0B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528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日付を確認する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E3DEC-1A3F-4687-98C9-5BE4202D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052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選択後、画面上部の日付が合っているか見ます。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D9DEC6-014F-4CA2-835D-F24591FF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5767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B46FA5-F254-4DDE-9875-81585781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97DD1"/>
                </a:solidFill>
              </a:defRPr>
            </a:pPr>
            <a:r>
              <a:rPr sz="1725" b="1">
                <a:solidFill>
                  <a:srgbClr val="397DD1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A27629-6313-43BC-B5B6-763273AD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57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入力前に見直す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17A0B8-C0DF-4087-BF1A-E28A48E1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101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別の日付のまま入力しないよう、日付をもう一度確認します。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10660618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93FB17-2786-4687-83E2-884EAAD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DD1"/>
          </a:solidFill>
          <a:ln xmlns:a="http://schemas.openxmlformats.org/drawingml/2006/main" w="0">
            <a:solidFill>
              <a:srgbClr val="397DD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52FEC-CDD9-4C6C-AB29-A370BBB8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スタッフガイド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B11C5-586C-4236-90A1-31B10D1C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97DD1"/>
                </a:solidFill>
              </a:defRPr>
            </a:pPr>
            <a:r>
              <a:rPr sz="1125" b="1">
                <a:solidFill>
                  <a:srgbClr val="397DD1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D1D58-0914-4E1A-B7CB-9CE76729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シフトを提出する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D02AE-BCB7-4EBF-8FC6-9F353EAA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勤務できる日時を、対象期間を確認してから入力します。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600E4C-36B9-4A62-8826-96598D12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667000" cy="2857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28ff3ea364712"/>
          <a:stretch xmlns:a="http://schemas.openxmlformats.org/drawingml/2006/main"/>
        </p:blipFill>
        <p:spPr>
          <a:xfrm xmlns:a="http://schemas.openxmlformats.org/drawingml/2006/main">
            <a:off x="1257300" y="2590800"/>
            <a:ext cx="1381125" cy="1381125"/>
          </a:xfrm>
          <a:prstGeom xmlns:a="http://schemas.openxmlformats.org/drawingml/2006/main" prst="roundRect">
            <a:avLst>
              <a:gd name="adj" fmla="val 827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E5F01-E31D-4B75-A972-4B584F37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3033"/>
                </a:solidFill>
              </a:defRPr>
            </a:pPr>
            <a:r>
              <a:rPr sz="1500" b="1">
                <a:solidFill>
                  <a:srgbClr val="253033"/>
                </a:solidFill>
              </a:rPr>
              <a:t>操作の入口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60E34-F99E-4915-BF18-732CDC36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97DD1"/>
                </a:solidFill>
              </a:defRPr>
            </a:pPr>
            <a:r>
              <a:rPr sz="1275" b="1">
                <a:solidFill>
                  <a:srgbClr val="397DD1"/>
                </a:solidFill>
              </a:rPr>
              <a:t>シフト提出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E289D0-1926-4125-8F40-D378D56B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97DD1"/>
                </a:solidFill>
              </a:defRPr>
            </a:pPr>
            <a:r>
              <a:rPr sz="2175" b="1">
                <a:solidFill>
                  <a:srgbClr val="397DD1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F17B3-FA1A-487D-A330-3D1CE16C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対象の期間を開く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7D9D53-B5BA-4013-92AB-401206D5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入力したい月・週が表示されているか確認します。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E3A98-868B-45AD-A47F-3E9F73D4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F20B0-AC07-471C-8E25-58151EA3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4802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97DD1"/>
                </a:solidFill>
              </a:defRPr>
            </a:pPr>
            <a:r>
              <a:rPr sz="2175" b="1">
                <a:solidFill>
                  <a:srgbClr val="397DD1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AED5ED-D1AF-4407-B1A4-1CC75234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4802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勤務可能な時間を入力する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157E0-5E49-4D4A-9493-FC427D8F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開始・終了時刻を選び、予定と重なりがないか確認します。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A956CB-04DC-4332-93DE-A976178A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1480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DF7194-BB5C-486F-B8FE-6D1D59A5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5767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97DD1"/>
                </a:solidFill>
              </a:defRPr>
            </a:pPr>
            <a:r>
              <a:rPr sz="2175" b="1">
                <a:solidFill>
                  <a:srgbClr val="397DD1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29B390-1D53-410D-A4D5-8927C02C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5767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提出後に見直す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09D0E6-6E05-4D4D-AF91-322149D3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入力した日と時間が一覧に反映されたか確認します。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B385EB-9C28-4301-9D9E-6E21F2B9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9250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2FBFA"/>
          </a:solidFill>
          <a:ln xmlns:a="http://schemas.openxmlformats.org/drawingml/2006/main" w="9525">
            <a:solidFill>
              <a:srgbClr val="397D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6606A8-9EBC-48F0-8F0B-E13F5B77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530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033"/>
                </a:solidFill>
              </a:defRPr>
            </a:pPr>
            <a:r>
              <a:rPr sz="1350" b="1">
                <a:solidFill>
                  <a:srgbClr val="253033"/>
                </a:solidFill>
              </a:rPr>
              <a:t>勤務できない日も確認し、入力漏れがない状態で提出します。</a:t>
            </a:r>
          </a:p>
        </p:txBody>
      </p:sp>
    </p:spTree>
    <p:extLst>
      <p:ext uri="{BB962C8B-B14F-4D97-AF65-F5344CB8AC3E}">
        <p14:creationId xmlns:p14="http://schemas.microsoft.com/office/powerpoint/2010/main" val="6515326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4ABE36-1BD2-405C-896D-936B16E4F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DD1"/>
          </a:solidFill>
          <a:ln xmlns:a="http://schemas.openxmlformats.org/drawingml/2006/main" w="0">
            <a:solidFill>
              <a:srgbClr val="397DD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7BA0C-EA97-42FD-B55E-2D823814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スタッフガイド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2CDA4-60C8-4DDE-92DD-5E4BE5FC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97DD1"/>
                </a:solidFill>
              </a:defRPr>
            </a:pPr>
            <a:r>
              <a:rPr sz="1125" b="1">
                <a:solidFill>
                  <a:srgbClr val="397DD1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3D130-4E66-45D8-A4EF-269A59CA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クイックメニューから目的の機能を開く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62227D-E54B-4428-ADDA-82A5D8E4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ホームからすぐに開きたい機能は、クイックメニューで選択します。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3C003-6F1A-4ACF-A702-A240A38C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04825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ed7333a5e64696"/>
          <a:stretch xmlns:a="http://schemas.openxmlformats.org/drawingml/2006/main"/>
        </p:blipFill>
        <p:spPr>
          <a:xfrm xmlns:a="http://schemas.openxmlformats.org/drawingml/2006/main">
            <a:off x="1853242" y="2209800"/>
            <a:ext cx="2560967" cy="3571875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9E227-EFAA-4261-BD76-18EE3799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97DD1"/>
                </a:solidFill>
              </a:defRPr>
            </a:pPr>
            <a:r>
              <a:rPr sz="1725" b="1">
                <a:solidFill>
                  <a:srgbClr val="397DD1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0CEB7-21BF-4AD2-B1EC-FB59D44A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479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表示したい機能を選ぶ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DDC39-B639-4092-B1D8-8477EFEC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03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項目を押して選択状態にします。必要に応じて表示内容を見直します。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5240F8-1D6F-48D4-9141-5201DA80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5277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ACE2C-D453-4EAB-AEF8-BFF81B52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97DD1"/>
                </a:solidFill>
              </a:defRPr>
            </a:pPr>
            <a:r>
              <a:rPr sz="1725" b="1">
                <a:solidFill>
                  <a:srgbClr val="397DD1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20641-B4C0-4074-88E6-ECD20605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528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決定する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10F97-C01D-4522-9537-F1CD5B0B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052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画面下部の決定を押すと、ホームのクイックメニューに反映されます。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1D2B6-CF72-49CB-9225-18229D73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5767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4A0F84-0F67-4AD0-8F3F-27A9AE1A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97DD1"/>
                </a:solidFill>
              </a:defRPr>
            </a:pPr>
            <a:r>
              <a:rPr sz="1725" b="1">
                <a:solidFill>
                  <a:srgbClr val="397DD1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B54762-3421-4409-B1DC-441364EF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57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迷ったとき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782984-22C5-45DE-A7D6-28139CAD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101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まずは「出欠」「送迎」「メッセージ」を優先して表示しておくと便利です。</a:t>
            </a:r>
          </a:p>
        </p:txBody>
      </p:sp>
    </p:spTree>
    <p:extLst>
      <p:ext uri="{BB962C8B-B14F-4D97-AF65-F5344CB8AC3E}">
        <p14:creationId xmlns:p14="http://schemas.microsoft.com/office/powerpoint/2010/main" val="1285883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BD9B47-4036-4FDE-B7A0-34FB9608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DD1"/>
          </a:solidFill>
          <a:ln xmlns:a="http://schemas.openxmlformats.org/drawingml/2006/main" w="0">
            <a:solidFill>
              <a:srgbClr val="397DD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DA75F1-19C0-45B3-AAA9-32A09A81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スタッフガイド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06E7A-71FC-472B-8AF9-C7D1225D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97DD1"/>
                </a:solidFill>
              </a:defRPr>
            </a:pPr>
            <a:r>
              <a:rPr sz="1125" b="1">
                <a:solidFill>
                  <a:srgbClr val="397DD1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C07E0-A4EC-4A39-8BF5-A1600969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メッセージとお知らせを確認する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A75DA-6185-4990-B62D-47316144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予定変更や個別連絡がある日は、対応前に内容を読みます。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9D8D1-670F-4284-AA3A-D93258BE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667000" cy="2857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66a4d13db04404"/>
          <a:stretch xmlns:a="http://schemas.openxmlformats.org/drawingml/2006/main"/>
        </p:blipFill>
        <p:spPr>
          <a:xfrm xmlns:a="http://schemas.openxmlformats.org/drawingml/2006/main">
            <a:off x="1257300" y="2590800"/>
            <a:ext cx="1381125" cy="1381125"/>
          </a:xfrm>
          <a:prstGeom xmlns:a="http://schemas.openxmlformats.org/drawingml/2006/main" prst="roundRect">
            <a:avLst>
              <a:gd name="adj" fmla="val 827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C121A-F609-4941-9756-345570AC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3033"/>
                </a:solidFill>
              </a:defRPr>
            </a:pPr>
            <a:r>
              <a:rPr sz="1500" b="1">
                <a:solidFill>
                  <a:srgbClr val="253033"/>
                </a:solidFill>
              </a:rPr>
              <a:t>操作の入口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3EDB6-80A7-420D-AD41-C0A8FC3A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4342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97DD1"/>
                </a:solidFill>
              </a:defRPr>
            </a:pPr>
            <a:r>
              <a:rPr sz="1275" b="1">
                <a:solidFill>
                  <a:srgbClr val="397DD1"/>
                </a:solidFill>
              </a:rPr>
              <a:t>メッセージ / お知らせ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9EF7C-CC4B-4A3B-A74D-0C09AEC9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3837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97DD1"/>
                </a:solidFill>
              </a:defRPr>
            </a:pPr>
            <a:r>
              <a:rPr sz="2175" b="1">
                <a:solidFill>
                  <a:srgbClr val="397DD1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BC08CC-DDD3-4947-A435-F6FE268A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未読の連絡を開く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A053B6-423B-48BA-93E3-F8E64171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2890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当日や送迎に関係する内容を優先して確認します。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6F13DA-F73F-4E8B-ABD5-51F3DBDC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6FE69-83F8-4ECA-AEB5-44177325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4802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97DD1"/>
                </a:solidFill>
              </a:defRPr>
            </a:pPr>
            <a:r>
              <a:rPr sz="2175" b="1">
                <a:solidFill>
                  <a:srgbClr val="397DD1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AB44C4-0D90-4A5F-9E19-495236AE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4802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対応が必要な内容を整理する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3517C-4E51-4BE4-8402-75322DA2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誰に関する変更か、いつ対応するかを確認します。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51E74E-7477-49D1-8B8E-73AF3B1E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1480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solidFill>
              <a:srgbClr val="D9E1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CA6F2A-FCE4-4F6D-81C2-6BBDDCB7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5767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97DD1"/>
                </a:solidFill>
              </a:defRPr>
            </a:pPr>
            <a:r>
              <a:rPr sz="2175" b="1">
                <a:solidFill>
                  <a:srgbClr val="397DD1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A6E9BE-9BFD-47FD-895F-5A8A501B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57675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033"/>
                </a:solidFill>
              </a:defRPr>
            </a:pPr>
            <a:r>
              <a:rPr sz="1725" b="1">
                <a:solidFill>
                  <a:srgbClr val="253033"/>
                </a:solidFill>
              </a:rPr>
              <a:t>必要なら返信・共有する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9B5D8C-FE54-4349-A28D-30DCCA83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48200"/>
            <a:ext cx="561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不明点は管理者へ連絡し、自己判断で進めないようにします。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1025FD-6A21-4076-A044-1452D115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99250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2FBFA"/>
          </a:solidFill>
          <a:ln xmlns:a="http://schemas.openxmlformats.org/drawingml/2006/main" w="9525">
            <a:solidFill>
              <a:srgbClr val="397D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B7A2C6-0838-4476-ABCE-F36448F5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530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3033"/>
                </a:solidFill>
              </a:defRPr>
            </a:pPr>
            <a:r>
              <a:rPr sz="1350" b="1">
                <a:solidFill>
                  <a:srgbClr val="253033"/>
                </a:solidFill>
              </a:rPr>
              <a:t>送迎内容が変わる連絡を見たら、ホームの担当表示も確認します。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16709684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BD68C8-793F-49F0-A765-D7D323E3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DD1"/>
          </a:solidFill>
          <a:ln xmlns:a="http://schemas.openxmlformats.org/drawingml/2006/main" w="0">
            <a:solidFill>
              <a:srgbClr val="397DD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77A0C-BE83-4B64-AF38-CB515DFA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276"/>
                </a:solidFill>
              </a:defRPr>
            </a:pPr>
            <a:r>
              <a:rPr sz="1125" b="1">
                <a:solidFill>
                  <a:srgbClr val="657276"/>
                </a:solidFill>
              </a:rPr>
              <a:t>ケーニーズ学童クラブ  |  スタッフガイド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74887-CD31-4E5A-A4B7-CD5A1371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97DD1"/>
                </a:solidFill>
              </a:defRPr>
            </a:pPr>
            <a:r>
              <a:rPr sz="1125" b="1">
                <a:solidFill>
                  <a:srgbClr val="397DD1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8EF41-8140-429E-A2C5-2141BF90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53033"/>
                </a:solidFill>
              </a:defRPr>
            </a:pPr>
            <a:r>
              <a:rPr sz="2925" b="1">
                <a:solidFill>
                  <a:srgbClr val="253033"/>
                </a:solidFill>
              </a:rPr>
              <a:t>スタッフの退勤前チェック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62F88-0F79-4C93-A2D2-9AA00010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276"/>
                </a:solidFill>
              </a:defRPr>
            </a:pPr>
            <a:r>
              <a:rPr sz="1575" b="0">
                <a:solidFill>
                  <a:srgbClr val="657276"/>
                </a:solidFill>
              </a:rPr>
              <a:t>完了後にこの4点を確認すると、見落としを減らせます。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E5DD5-B014-48E3-96EE-5B80E16D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190750" cy="2571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34548-39CD-4F81-BC04-673CACD3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97DD1"/>
                </a:solidFill>
              </a:defRPr>
            </a:pPr>
            <a:r>
              <a:rPr sz="2550" b="1">
                <a:solidFill>
                  <a:srgbClr val="397DD1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0276CC-1A2A-4CD0-AC67-ADBAF66D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033"/>
                </a:solidFill>
              </a:defRPr>
            </a:pPr>
            <a:r>
              <a:rPr sz="1650" b="1">
                <a:solidFill>
                  <a:srgbClr val="253033"/>
                </a:solidFill>
              </a:rPr>
              <a:t>出欠記録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647D0-C3A0-4B0A-84B6-D608ADF6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当日の記録を見直した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EE00F-5DE8-4CD0-8103-D3442EFF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00300"/>
            <a:ext cx="2190750" cy="2571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DA9BA-7767-4FCD-8BA6-A042CFB0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86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97DD1"/>
                </a:solidFill>
              </a:defRPr>
            </a:pPr>
            <a:r>
              <a:rPr sz="2550" b="1">
                <a:solidFill>
                  <a:srgbClr val="397DD1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DFBD5-2085-4CA2-9F54-7BC0E3EE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528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033"/>
                </a:solidFill>
              </a:defRPr>
            </a:pPr>
            <a:r>
              <a:rPr sz="1650" b="1">
                <a:solidFill>
                  <a:srgbClr val="253033"/>
                </a:solidFill>
              </a:rPr>
              <a:t>送迎確認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34F83-EFDF-46F3-9B84-8B16192D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2905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担当送迎に漏れがない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379B9-E1DA-40DC-8C67-3DC753DA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0300"/>
            <a:ext cx="2190750" cy="2571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6B8722-E717-4833-AF95-55588BF0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97DD1"/>
                </a:solidFill>
              </a:defRPr>
            </a:pPr>
            <a:r>
              <a:rPr sz="2550" b="1">
                <a:solidFill>
                  <a:srgbClr val="397DD1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A56E20-F994-4B46-869F-74D9E137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528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033"/>
                </a:solidFill>
              </a:defRPr>
            </a:pPr>
            <a:r>
              <a:rPr sz="1650" b="1">
                <a:solidFill>
                  <a:srgbClr val="253033"/>
                </a:solidFill>
              </a:rPr>
              <a:t>連絡確認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8FC18-3A29-4510-A622-30492714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2905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未読や要対応の連絡がない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963C1-5463-49B2-9EB2-44FC101C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0300"/>
            <a:ext cx="2190750" cy="2571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511410-1CD5-4CA2-923B-18EF8BA4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97DD1"/>
                </a:solidFill>
              </a:defRPr>
            </a:pPr>
            <a:r>
              <a:rPr sz="2550" b="1">
                <a:solidFill>
                  <a:srgbClr val="397DD1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DF69C1-FF17-4E2E-B170-E0EEAED4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1657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3033"/>
                </a:solidFill>
              </a:defRPr>
            </a:pPr>
            <a:r>
              <a:rPr sz="1650" b="1">
                <a:solidFill>
                  <a:srgbClr val="253033"/>
                </a:solidFill>
              </a:rPr>
              <a:t>シフト確認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6F7212-7792-49BF-998E-68C6B0B4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29050"/>
            <a:ext cx="1695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57276"/>
                </a:solidFill>
              </a:defRPr>
            </a:pPr>
            <a:r>
              <a:rPr sz="1275" b="0">
                <a:solidFill>
                  <a:srgbClr val="657276"/>
                </a:solidFill>
              </a:rPr>
              <a:t>次回の勤務予定を確認した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CBC64D-6610-4CCF-8FED-720044F9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2870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97D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1B943E-E508-4FB3-9C28-17855F31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721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3033"/>
                </a:solidFill>
              </a:defRPr>
            </a:pPr>
            <a:r>
              <a:rPr sz="1500" b="1">
                <a:solidFill>
                  <a:srgbClr val="253033"/>
                </a:solidFill>
              </a:rPr>
              <a:t>迷ったら、ホームに戻って「今日の予定」と「お知らせ」をもう一度確認します。</a:t>
            </a:r>
          </a:p>
        </p:txBody>
      </p:sp>
    </p:spTree>
    <p:extLst>
      <p:ext uri="{BB962C8B-B14F-4D97-AF65-F5344CB8AC3E}">
        <p14:creationId xmlns:p14="http://schemas.microsoft.com/office/powerpoint/2010/main" val="2707673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2026-09-03T13:21:22.0830000Z</dcterms:created>
  <dcterms:modified xsi:type="dcterms:W3CDTF">2026-09-03T13:21:22.0830000Z</dcterms:modified>
</coreProperties>
</file>